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138365a2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f138365a2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138365a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138365a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ebc7e4c8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ebc7e4c8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f138365a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f138365a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ffb938335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ffb938335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ee36d806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ee36d806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ee36d806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ee36d806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6f73a0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6f73a04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f138365a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f138365a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ffb93833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ffb93833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6f73a04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6f73a04f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88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chemeClr val="lt1"/>
                </a:solidFill>
              </a:rPr>
              <a:t>Distillation Pipeline</a:t>
            </a:r>
            <a:endParaRPr sz="2500" b="1">
              <a:solidFill>
                <a:schemeClr val="lt1"/>
              </a:solidFill>
            </a:endParaRPr>
          </a:p>
        </p:txBody>
      </p:sp>
      <p:pic>
        <p:nvPicPr>
          <p:cNvPr id="78" name="Google Shape;78;p15" title="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600" y="1336737"/>
            <a:ext cx="7770810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body" idx="4294967295"/>
          </p:nvPr>
        </p:nvSpPr>
        <p:spPr>
          <a:xfrm>
            <a:off x="0" y="0"/>
            <a:ext cx="9144000" cy="88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chemeClr val="lt1"/>
                </a:solidFill>
              </a:rPr>
              <a:t>Workflow</a:t>
            </a:r>
            <a:endParaRPr sz="2500" b="1">
              <a:solidFill>
                <a:schemeClr val="lt1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42075" y="1027575"/>
            <a:ext cx="9002100" cy="3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AutoNum type="arabicPeriod"/>
            </a:pPr>
            <a:r>
              <a:rPr lang="en" sz="2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Preparation</a:t>
            </a:r>
            <a:endParaRPr sz="21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Load text data, preprocess (remove punctuation, lowercase), tokenize, and pad sequences.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Split into training/validation sets.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AutoNum type="arabicPeriod"/>
            </a:pPr>
            <a:r>
              <a:rPr lang="en" sz="2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Teacher Model (Transformer)</a:t>
            </a:r>
            <a:endParaRPr sz="21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Build and train a transformer with multi-head attention and layer normalization.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Train using cross-entropy loss with adaptive learning rate and early stopping.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body" idx="4294967295"/>
          </p:nvPr>
        </p:nvSpPr>
        <p:spPr>
          <a:xfrm>
            <a:off x="0" y="0"/>
            <a:ext cx="9144000" cy="88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chemeClr val="lt1"/>
                </a:solidFill>
              </a:rPr>
              <a:t>Workflow (Contd.)</a:t>
            </a:r>
            <a:endParaRPr sz="2500" b="1">
              <a:solidFill>
                <a:schemeClr val="lt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012" y="2405875"/>
            <a:ext cx="7142625" cy="4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142075" y="947200"/>
            <a:ext cx="9002100" cy="39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3.  Knowledge Distillation</a:t>
            </a:r>
            <a:endParaRPr sz="21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Teacher: Generate soft labels (probabilistic outputs).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Student: Train a lightweight LSTM using a hybrid loss: Cross-entropy (ground truth) + KL-divergence (teacher guidance).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4.  Baseline LSTM</a:t>
            </a:r>
            <a:endParaRPr sz="21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Train a standalone LSTM (same architecture as student) without distillation.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5.  Evaluation</a:t>
            </a:r>
            <a:endParaRPr sz="21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Compare validation accuracy of distilled student vs. baseline.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Visualize results to highlight performance gains.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 title="Screenshot 2026-02-15 1821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850" y="1552925"/>
            <a:ext cx="4646151" cy="30103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>
            <a:spLocks noGrp="1"/>
          </p:cNvSpPr>
          <p:nvPr>
            <p:ph type="title" idx="4294967295"/>
          </p:nvPr>
        </p:nvSpPr>
        <p:spPr>
          <a:xfrm>
            <a:off x="3168003" y="23305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000000"/>
                </a:solidFill>
              </a:rPr>
              <a:t>Student LSTM</a:t>
            </a:r>
            <a:endParaRPr sz="3000" b="1">
              <a:solidFill>
                <a:srgbClr val="000000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52925"/>
            <a:ext cx="4436899" cy="30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body" idx="4294967295"/>
          </p:nvPr>
        </p:nvSpPr>
        <p:spPr>
          <a:xfrm>
            <a:off x="0" y="0"/>
            <a:ext cx="9144000" cy="88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chemeClr val="lt1"/>
                </a:solidFill>
              </a:rPr>
              <a:t>LSTM Model</a:t>
            </a:r>
            <a:endParaRPr sz="2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5775"/>
            <a:ext cx="4467599" cy="306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 title="Screenshot 2026-02-15 1828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310150"/>
            <a:ext cx="4572001" cy="3833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>
            <a:spLocks noGrp="1"/>
          </p:cNvSpPr>
          <p:nvPr>
            <p:ph type="body" idx="4294967295"/>
          </p:nvPr>
        </p:nvSpPr>
        <p:spPr>
          <a:xfrm>
            <a:off x="0" y="0"/>
            <a:ext cx="9144000" cy="877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chemeClr val="lt1"/>
                </a:solidFill>
              </a:rPr>
              <a:t>Transformer Model</a:t>
            </a:r>
            <a:endParaRPr sz="2500" b="1">
              <a:solidFill>
                <a:schemeClr val="lt1"/>
              </a:solidFill>
            </a:endParaRP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4294967295"/>
          </p:nvPr>
        </p:nvSpPr>
        <p:spPr>
          <a:xfrm>
            <a:off x="0" y="-1800"/>
            <a:ext cx="9144000" cy="88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chemeClr val="lt1"/>
                </a:solidFill>
              </a:rPr>
              <a:t>Transformer Model</a:t>
            </a:r>
            <a:endParaRPr sz="2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 title="Screenshot 2026-02-15 1822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5" y="1069500"/>
            <a:ext cx="4399524" cy="348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88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chemeClr val="lt1"/>
                </a:solidFill>
              </a:rPr>
              <a:t>Results</a:t>
            </a:r>
            <a:endParaRPr sz="2500" b="1">
              <a:solidFill>
                <a:schemeClr val="lt1"/>
              </a:solidFill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175" y="1069500"/>
            <a:ext cx="4399525" cy="348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body" idx="4294967295"/>
          </p:nvPr>
        </p:nvSpPr>
        <p:spPr>
          <a:xfrm>
            <a:off x="0" y="0"/>
            <a:ext cx="9144000" cy="88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chemeClr val="lt1"/>
                </a:solidFill>
              </a:rPr>
              <a:t>Applications</a:t>
            </a:r>
            <a:endParaRPr sz="2500" b="1">
              <a:solidFill>
                <a:schemeClr val="lt1"/>
              </a:solidFill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102300" y="1087850"/>
            <a:ext cx="8946000" cy="3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IoT &amp; Edge Devices</a:t>
            </a: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Run language models on low-power hardware with limited memory.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Offline Virtual Assistants</a:t>
            </a: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Enable smart input and responses without cloud access.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Mobile Autocompletion</a:t>
            </a: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Power predictive keyboards and text input efficiently. 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Char char="●"/>
            </a:pPr>
            <a:r>
              <a:rPr lang="en" sz="21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Low-Bandwidth Scenarios</a:t>
            </a:r>
            <a:r>
              <a:rPr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Perform on-device inference where connectivity is limited.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body" idx="4294967295"/>
          </p:nvPr>
        </p:nvSpPr>
        <p:spPr>
          <a:xfrm>
            <a:off x="0" y="0"/>
            <a:ext cx="9144000" cy="88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chemeClr val="lt1"/>
                </a:solidFill>
              </a:rPr>
              <a:t>Future Work</a:t>
            </a:r>
            <a:endParaRPr sz="2500" b="1">
              <a:solidFill>
                <a:schemeClr val="lt1"/>
              </a:solidFill>
            </a:endParaRPr>
          </a:p>
        </p:txBody>
      </p:sp>
      <p:grpSp>
        <p:nvGrpSpPr>
          <p:cNvPr id="126" name="Google Shape;126;p22"/>
          <p:cNvGrpSpPr/>
          <p:nvPr/>
        </p:nvGrpSpPr>
        <p:grpSpPr>
          <a:xfrm>
            <a:off x="476250" y="1333500"/>
            <a:ext cx="8191425" cy="3048000"/>
            <a:chOff x="476250" y="1333500"/>
            <a:chExt cx="8191425" cy="3048000"/>
          </a:xfrm>
        </p:grpSpPr>
        <p:sp>
          <p:nvSpPr>
            <p:cNvPr id="127" name="Google Shape;127;p22"/>
            <p:cNvSpPr/>
            <p:nvPr/>
          </p:nvSpPr>
          <p:spPr>
            <a:xfrm>
              <a:off x="476250" y="1333500"/>
              <a:ext cx="39528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2"/>
            <p:cNvSpPr txBox="1"/>
            <p:nvPr/>
          </p:nvSpPr>
          <p:spPr>
            <a:xfrm>
              <a:off x="666750" y="1599651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80" b="0" i="0">
                <a:solidFill>
                  <a:srgbClr val="4285F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9" name="Google Shape;129;p22"/>
            <p:cNvSpPr txBox="1"/>
            <p:nvPr/>
          </p:nvSpPr>
          <p:spPr>
            <a:xfrm>
              <a:off x="666750" y="2000250"/>
              <a:ext cx="35718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4285F4"/>
                  </a:solidFill>
                  <a:latin typeface="Roboto"/>
                  <a:ea typeface="Roboto"/>
                  <a:cs typeface="Roboto"/>
                  <a:sym typeface="Roboto"/>
                </a:rPr>
                <a:t>Model Optimization</a:t>
              </a:r>
              <a:endParaRPr sz="1800" b="1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The low validation accuracies suggest potential improvements through </a:t>
              </a:r>
              <a:r>
                <a:rPr lang="en" sz="1400" b="1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hyperparameter tuning</a:t>
              </a:r>
              <a:r>
                <a:rPr lang="en" sz="14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, alternative architectures, or </a:t>
              </a:r>
              <a:r>
                <a:rPr lang="en" sz="1400" b="1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larger datasets</a:t>
              </a:r>
              <a:r>
                <a:rPr lang="en" sz="14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>
              <a:off x="4714875" y="1333500"/>
              <a:ext cx="39528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2"/>
            <p:cNvSpPr txBox="1"/>
            <p:nvPr/>
          </p:nvSpPr>
          <p:spPr>
            <a:xfrm>
              <a:off x="4905375" y="1599651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80" b="0" i="0">
                <a:solidFill>
                  <a:srgbClr val="34A85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2" name="Google Shape;132;p22"/>
            <p:cNvSpPr txBox="1"/>
            <p:nvPr/>
          </p:nvSpPr>
          <p:spPr>
            <a:xfrm>
              <a:off x="4905375" y="2000250"/>
              <a:ext cx="35718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34A853"/>
                  </a:solidFill>
                  <a:latin typeface="Roboto"/>
                  <a:ea typeface="Roboto"/>
                  <a:cs typeface="Roboto"/>
                  <a:sym typeface="Roboto"/>
                </a:rPr>
                <a:t>Enhanced Evaluation</a:t>
              </a:r>
              <a:endParaRPr sz="1800" b="1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Future work could explore </a:t>
              </a:r>
              <a:r>
                <a:rPr lang="en" sz="1400" b="1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top-k accuracy</a:t>
              </a:r>
              <a:r>
                <a:rPr lang="en" sz="14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or </a:t>
              </a:r>
              <a:r>
                <a:rPr lang="en" sz="1400" b="1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perplexity</a:t>
              </a:r>
              <a:r>
                <a:rPr lang="en" sz="14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for a more comprehensive evaluation, enhancing model robustness.</a:t>
              </a:r>
              <a:endParaRPr sz="1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260100" y="2244000"/>
            <a:ext cx="2808000" cy="6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Thank You!</a:t>
            </a:r>
            <a:endParaRPr sz="3000" b="1"/>
          </a:p>
        </p:txBody>
      </p:sp>
      <p:pic>
        <p:nvPicPr>
          <p:cNvPr id="138" name="Google Shape;138;p23" title="gen ai.png"/>
          <p:cNvPicPr preferRelativeResize="0"/>
          <p:nvPr/>
        </p:nvPicPr>
        <p:blipFill rotWithShape="1">
          <a:blip r:embed="rId3">
            <a:alphaModFix/>
          </a:blip>
          <a:srcRect l="1765" r="1765"/>
          <a:stretch/>
        </p:blipFill>
        <p:spPr>
          <a:xfrm>
            <a:off x="3274676" y="0"/>
            <a:ext cx="5869324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On-screen Show (16:9)</PresentationFormat>
  <Paragraphs>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Roboto</vt:lpstr>
      <vt:lpstr>Arial</vt:lpstr>
      <vt:lpstr>Material Icons</vt:lpstr>
      <vt:lpstr>Material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Student LSTM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saki</dc:creator>
  <cp:lastModifiedBy>Saket Meshram</cp:lastModifiedBy>
  <cp:revision>1</cp:revision>
  <dcterms:modified xsi:type="dcterms:W3CDTF">2026-04-21T06:13:55Z</dcterms:modified>
</cp:coreProperties>
</file>